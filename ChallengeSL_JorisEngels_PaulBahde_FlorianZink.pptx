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4"/>
  </p:sldMasterIdLst>
  <p:notesMasterIdLst>
    <p:notesMasterId r:id="rId8"/>
  </p:notesMasterIdLst>
  <p:handoutMasterIdLst>
    <p:handoutMasterId r:id="rId9"/>
  </p:handoutMasterIdLst>
  <p:sldIdLst>
    <p:sldId id="288" r:id="rId5"/>
    <p:sldId id="291" r:id="rId6"/>
    <p:sldId id="2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ull" id="{469F4573-DE55-4091-944F-C4B0228DFB8F}">
          <p14:sldIdLst>
            <p14:sldId id="288"/>
            <p14:sldId id="291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uchert, Markus" initials="HM" lastIdx="1" clrIdx="0">
    <p:extLst>
      <p:ext uri="{19B8F6BF-5375-455C-9EA6-DF929625EA0E}">
        <p15:presenceInfo xmlns:p15="http://schemas.microsoft.com/office/powerpoint/2012/main" userId="S-1-5-21-3563042444-3166535624-2248634661-3305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0830"/>
    <a:srgbClr val="595959"/>
    <a:srgbClr val="585858"/>
    <a:srgbClr val="FFFFF7"/>
    <a:srgbClr val="4F4F4F"/>
    <a:srgbClr val="4D4D4D"/>
    <a:srgbClr val="494949"/>
    <a:srgbClr val="414141"/>
    <a:srgbClr val="3A3A3A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7AF93-0EFB-F6AE-8CD5-D25A71261BA7}" v="194" dt="2026-05-29T12:26:27.297"/>
  </p1510:revLst>
</p1510:revInfo>
</file>

<file path=ppt/tableStyles.xml><?xml version="1.0" encoding="utf-8"?>
<a:tblStyleLst xmlns:a="http://schemas.openxmlformats.org/drawingml/2006/main" def="{13FEF9DA-6794-4BE8-A12E-2D652123F8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3FEF9DA-6794-4BE8-A12E-2D652123F822}" styleName="ERCIS Custom Style">
    <a:wholeTbl>
      <a:tcTxStyle>
        <a:fontRef idx="minor">
          <a:scrgbClr r="0" g="0" b="0"/>
        </a:fontRef>
        <a:srgbClr val="5E5E5D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 w="12700" cmpd="sng">
              <a:solidFill>
                <a:srgbClr val="5E5E5D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7E6E6"/>
          </a:solidFill>
        </a:fill>
      </a:tcStyle>
    </a:band1H>
    <a:band1V>
      <a:tcStyle>
        <a:tcBdr/>
        <a:fill>
          <a:solidFill>
            <a:schemeClr val="dk1">
              <a:tint val="2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>
          <a:right>
            <a:ln>
              <a:solidFill>
                <a:srgbClr val="5E5E5D"/>
              </a:solidFill>
            </a:ln>
          </a:right>
        </a:tcBdr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rgbClr val="910830"/>
      </a:tcTxStyle>
      <a:tcStyle>
        <a:tcBdr>
          <a:bottom>
            <a:ln w="28575" cmpd="sng">
              <a:solidFill>
                <a:srgbClr val="5E5E5D"/>
              </a:solidFill>
            </a:ln>
          </a:bottom>
        </a:tcBdr>
        <a:fill>
          <a:noFill/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81BA-6EEE-4FC7-A97D-DA71A0FBAD42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D7478-62C2-4FFE-9DF3-A85768F790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17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5195E-0034-4594-ADB6-A8532B18FED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2E001-9777-449C-9F4D-E831EF9DBAB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6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2E001-9777-449C-9F4D-E831EF9DB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09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922413" y="4395114"/>
            <a:ext cx="7406247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Presentation Subtitle</a:t>
            </a:r>
          </a:p>
        </p:txBody>
      </p:sp>
      <p:sp>
        <p:nvSpPr>
          <p:cNvPr id="3" name="Gleichschenkliges Dreieck 2"/>
          <p:cNvSpPr/>
          <p:nvPr userDrawn="1"/>
        </p:nvSpPr>
        <p:spPr>
          <a:xfrm rot="10800000">
            <a:off x="863575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Gleichschenkliges Dreieck 11"/>
          <p:cNvSpPr/>
          <p:nvPr userDrawn="1"/>
        </p:nvSpPr>
        <p:spPr>
          <a:xfrm rot="10800000" flipH="1" flipV="1">
            <a:off x="862915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Gleichschenkliges Dreieck 12"/>
          <p:cNvSpPr/>
          <p:nvPr userDrawn="1"/>
        </p:nvSpPr>
        <p:spPr>
          <a:xfrm rot="5400000">
            <a:off x="-168666" y="634640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Gleichschenkliges Dreieck 13"/>
          <p:cNvSpPr/>
          <p:nvPr userDrawn="1"/>
        </p:nvSpPr>
        <p:spPr>
          <a:xfrm rot="16200000" flipH="1">
            <a:off x="12257723" y="634509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180DAAD-7628-4488-AAE2-811ED777AE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2413" y="2614390"/>
            <a:ext cx="7396505" cy="159743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de-DE" sz="4800" b="1" dirty="0">
                <a:solidFill>
                  <a:srgbClr val="910830"/>
                </a:solidFill>
                <a:latin typeface="Trebuchet MS" panose="020B0603020202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Edit Master </a:t>
            </a:r>
            <a:r>
              <a:rPr lang="en-US" noProof="0" err="1"/>
              <a:t>titleformat</a:t>
            </a:r>
            <a:endParaRPr lang="en-US" noProof="0"/>
          </a:p>
        </p:txBody>
      </p:sp>
      <p:sp>
        <p:nvSpPr>
          <p:cNvPr id="16" name="Datumsplatzhalter 6"/>
          <p:cNvSpPr>
            <a:spLocks noGrp="1"/>
          </p:cNvSpPr>
          <p:nvPr>
            <p:ph type="dt" sz="half" idx="11"/>
          </p:nvPr>
        </p:nvSpPr>
        <p:spPr>
          <a:xfrm>
            <a:off x="8976753" y="638937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45431B-5281-55FD-979E-1883554BD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7754" y="364480"/>
            <a:ext cx="2032200" cy="118749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5046B26-014A-85C9-721A-E24A8342DC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199" y="580169"/>
            <a:ext cx="2216961" cy="613531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pic>
    </p:spTree>
    <p:extLst>
      <p:ext uri="{BB962C8B-B14F-4D97-AF65-F5344CB8AC3E}">
        <p14:creationId xmlns:p14="http://schemas.microsoft.com/office/powerpoint/2010/main" val="365857133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01" userDrawn="1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5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GB" noProof="0"/>
              <a:t>Action Title</a:t>
            </a: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0800000">
            <a:off x="990959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990893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Gleichschenkliges Dreieck 29"/>
          <p:cNvSpPr/>
          <p:nvPr userDrawn="1"/>
        </p:nvSpPr>
        <p:spPr>
          <a:xfrm rot="5400000">
            <a:off x="-168666" y="6064445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Gleichschenkliges Dreieck 30"/>
          <p:cNvSpPr/>
          <p:nvPr userDrawn="1"/>
        </p:nvSpPr>
        <p:spPr>
          <a:xfrm rot="16200000" flipH="1">
            <a:off x="12257723" y="6063126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Gleichschenkliges Dreieck 31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Gleichschenkliges Dreieck 32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79424" y="1743075"/>
            <a:ext cx="9469437" cy="43497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 baseline="0">
                <a:solidFill>
                  <a:srgbClr val="595959"/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aseline="0">
                <a:solidFill>
                  <a:srgbClr val="595959"/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 baseline="0">
                <a:solidFill>
                  <a:srgbClr val="595959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4F8BAD9-45C9-77D1-2798-DF1E07096E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2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6267">
          <p15:clr>
            <a:srgbClr val="FBAE40"/>
          </p15:clr>
        </p15:guide>
        <p15:guide id="4" orient="horz" pos="383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Pictur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7464428" y="1737172"/>
            <a:ext cx="4308471" cy="4346128"/>
          </a:xfrm>
          <a:prstGeom prst="rect">
            <a:avLst/>
          </a:prstGeom>
          <a:effectLst/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2" name="Gleichschenkliges Dreieck 21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leichschenkliges Dreieck 22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leichschenkliges Dreieck 23"/>
          <p:cNvSpPr/>
          <p:nvPr userDrawn="1"/>
        </p:nvSpPr>
        <p:spPr>
          <a:xfrm rot="5400000">
            <a:off x="-134766" y="6059102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16200000" flipH="1">
            <a:off x="12291623" y="605778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0800000">
            <a:off x="715735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715669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743075"/>
            <a:ext cx="6732588" cy="43561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18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cxnSp>
        <p:nvCxnSpPr>
          <p:cNvPr id="19" name="Gerader Verbinder 18"/>
          <p:cNvCxnSpPr/>
          <p:nvPr userDrawn="1"/>
        </p:nvCxnSpPr>
        <p:spPr>
          <a:xfrm flipV="1">
            <a:off x="479425" y="6294664"/>
            <a:ext cx="1129347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20" name="Gleichschenkliges Dreieck 19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Gleichschenkliges Dreieck 20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5CD47B5-F19F-5C10-E6A9-B7C7FC73C7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26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454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pos="742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Pictur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480059" y="1737171"/>
            <a:ext cx="6624004" cy="4356903"/>
          </a:xfrm>
          <a:prstGeom prst="rect">
            <a:avLst/>
          </a:prstGeom>
          <a:noFill/>
          <a:effectLst>
            <a:outerShdw blurRad="381000" sx="105000" sy="105000" algn="ctr" rotWithShape="0">
              <a:prstClr val="black">
                <a:alpha val="6000"/>
              </a:prstClr>
            </a:outerShdw>
          </a:effectLst>
        </p:spPr>
        <p:txBody>
          <a:bodyPr/>
          <a:lstStyle>
            <a:lvl1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7208520" y="1736724"/>
            <a:ext cx="4564379" cy="2125559"/>
          </a:xfrm>
          <a:prstGeom prst="rect">
            <a:avLst/>
          </a:prstGeom>
          <a:noFill/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7208520" y="3968963"/>
            <a:ext cx="4564379" cy="2125112"/>
          </a:xfrm>
          <a:prstGeom prst="rect">
            <a:avLst/>
          </a:prstGeom>
          <a:noFill/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21" name="Gleichschenkliges Dreieck 20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Gleichschenkliges Dreieck 21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leichschenkliges Dreieck 22"/>
          <p:cNvSpPr/>
          <p:nvPr userDrawn="1"/>
        </p:nvSpPr>
        <p:spPr>
          <a:xfrm rot="10800000">
            <a:off x="7054291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leichschenkliges Dreieck 23"/>
          <p:cNvSpPr/>
          <p:nvPr userDrawn="1"/>
        </p:nvSpPr>
        <p:spPr>
          <a:xfrm rot="10800000" flipH="1" flipV="1">
            <a:off x="7053631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5400000">
            <a:off x="-168666" y="6064445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6200000" flipH="1">
            <a:off x="12257723" y="6063126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30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de-DE"/>
              <a:t>Action Title</a:t>
            </a:r>
            <a:endParaRPr lang="en-US"/>
          </a:p>
        </p:txBody>
      </p:sp>
      <p:sp>
        <p:nvSpPr>
          <p:cNvPr id="2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20" name="Gleichschenkliges Dreieck 19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Gleichschenkliges Dreieck 30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929CD6-2DC7-F06E-B100-E2E281BE8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1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4475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pos="742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 rot="16200000">
            <a:off x="2666999" y="-2667001"/>
            <a:ext cx="6858000" cy="12192001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Rechteck 3"/>
          <p:cNvSpPr/>
          <p:nvPr userDrawn="1"/>
        </p:nvSpPr>
        <p:spPr>
          <a:xfrm rot="16200000" flipH="1">
            <a:off x="6722746" y="1183003"/>
            <a:ext cx="5791840" cy="4308475"/>
          </a:xfrm>
          <a:prstGeom prst="rect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6" hasCustomPrompt="1"/>
          </p:nvPr>
        </p:nvSpPr>
        <p:spPr>
          <a:xfrm>
            <a:off x="5834002" y="1157788"/>
            <a:ext cx="5252357" cy="4451350"/>
          </a:xfrm>
          <a:prstGeom prst="rect">
            <a:avLst/>
          </a:prstGeom>
          <a:noFill/>
          <a:effectLst>
            <a:outerShdw blurRad="381000" sx="105000" sy="105000" algn="ctr" rotWithShape="0">
              <a:prstClr val="black">
                <a:alpha val="13000"/>
              </a:prstClr>
            </a:outerShdw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13" name="Gleichschenkliges Dreieck 12"/>
          <p:cNvSpPr/>
          <p:nvPr userDrawn="1"/>
        </p:nvSpPr>
        <p:spPr>
          <a:xfrm rot="10800000">
            <a:off x="7417437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Gleichschenkliges Dreieck 13"/>
          <p:cNvSpPr/>
          <p:nvPr userDrawn="1"/>
        </p:nvSpPr>
        <p:spPr>
          <a:xfrm rot="10800000" flipH="1" flipV="1">
            <a:off x="7416777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807719" y="4021031"/>
            <a:ext cx="43397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Chapter Subtitle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4FE02824-8CF5-41DF-9B69-958880B01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719" y="2240303"/>
            <a:ext cx="4339737" cy="170452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lang="de-DE" sz="4400" b="1" kern="1200" dirty="0" smtClean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Subtitle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28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MultPictur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7464428" y="1737172"/>
            <a:ext cx="4308471" cy="2125112"/>
          </a:xfrm>
          <a:prstGeom prst="rect">
            <a:avLst/>
          </a:prstGeom>
          <a:noFill/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7464428" y="3968963"/>
            <a:ext cx="2433655" cy="2125112"/>
          </a:xfrm>
          <a:prstGeom prst="rect">
            <a:avLst/>
          </a:prstGeom>
          <a:noFill/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10016836" y="3968963"/>
            <a:ext cx="1756063" cy="2125112"/>
          </a:xfrm>
          <a:prstGeom prst="rect">
            <a:avLst/>
          </a:prstGeom>
          <a:noFill/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pPr marL="0" lvl="0" indent="0">
              <a:buFontTx/>
              <a:buNone/>
            </a:pPr>
            <a:endParaRPr lang="en-US"/>
          </a:p>
        </p:txBody>
      </p:sp>
      <p:sp>
        <p:nvSpPr>
          <p:cNvPr id="22" name="Gleichschenkliges Dreieck 21"/>
          <p:cNvSpPr/>
          <p:nvPr userDrawn="1"/>
        </p:nvSpPr>
        <p:spPr>
          <a:xfrm rot="5400000">
            <a:off x="-168666" y="6064445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leichschenkliges Dreieck 22"/>
          <p:cNvSpPr/>
          <p:nvPr userDrawn="1"/>
        </p:nvSpPr>
        <p:spPr>
          <a:xfrm rot="16200000" flipH="1">
            <a:off x="12257723" y="6063126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leichschenkliges Dreieck 23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0800000">
            <a:off x="715735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715669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platzhalter 2"/>
          <p:cNvSpPr>
            <a:spLocks noGrp="1"/>
          </p:cNvSpPr>
          <p:nvPr>
            <p:ph type="body" sz="quarter" idx="20" hasCustomPrompt="1"/>
          </p:nvPr>
        </p:nvSpPr>
        <p:spPr>
          <a:xfrm>
            <a:off x="479425" y="1743075"/>
            <a:ext cx="6732588" cy="43561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2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33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18" name="Gleichschenkliges Dreieck 17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Gleichschenkliges Dreieck 30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CFC8BDE-6544-A921-1ECF-A787C0110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orient="horz" pos="3838">
          <p15:clr>
            <a:srgbClr val="FBAE40"/>
          </p15:clr>
        </p15:guide>
        <p15:guide id="4" pos="4543">
          <p15:clr>
            <a:srgbClr val="FBAE40"/>
          </p15:clr>
        </p15:guide>
        <p15:guide id="5" pos="742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Thre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2">
            <a:extLst>
              <a:ext uri="{FF2B5EF4-FFF2-40B4-BE49-F238E27FC236}">
                <a16:creationId xmlns:a16="http://schemas.microsoft.com/office/drawing/2014/main" id="{9EAF5593-3195-1641-B210-037F92256F3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60046" y="1736725"/>
            <a:ext cx="3821" cy="4212789"/>
          </a:xfrm>
          <a:prstGeom prst="line">
            <a:avLst/>
          </a:prstGeom>
          <a:ln w="12700">
            <a:solidFill>
              <a:srgbClr val="910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191A8587-6770-904F-A2FB-EB3C193A7491}"/>
              </a:ext>
            </a:extLst>
          </p:cNvPr>
          <p:cNvCxnSpPr>
            <a:cxnSpLocks/>
          </p:cNvCxnSpPr>
          <p:nvPr userDrawn="1"/>
        </p:nvCxnSpPr>
        <p:spPr>
          <a:xfrm flipV="1">
            <a:off x="8103907" y="1736726"/>
            <a:ext cx="0" cy="4212788"/>
          </a:xfrm>
          <a:prstGeom prst="line">
            <a:avLst/>
          </a:prstGeom>
          <a:ln w="12700">
            <a:solidFill>
              <a:srgbClr val="910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907497" y="1954078"/>
            <a:ext cx="2437432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None/>
              <a:defRPr lang="en-US" sz="2400" b="1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Item 2</a:t>
            </a:r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764777" y="1954078"/>
            <a:ext cx="2437432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None/>
              <a:defRPr lang="en-US" sz="2400" b="1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Item 3</a:t>
            </a:r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941873" y="1954078"/>
            <a:ext cx="2437432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None/>
              <a:defRPr lang="en-US" sz="2400" b="1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Item 1</a:t>
            </a:r>
          </a:p>
        </p:txBody>
      </p:sp>
      <p:sp>
        <p:nvSpPr>
          <p:cNvPr id="19" name="Gleichschenkliges Dreieck 18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Gleichschenkliges Dreieck 19"/>
          <p:cNvSpPr/>
          <p:nvPr userDrawn="1"/>
        </p:nvSpPr>
        <p:spPr>
          <a:xfrm rot="10800000" flipH="1" flipV="1">
            <a:off x="426059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Gleichschenkliges Dreieck 20"/>
          <p:cNvSpPr/>
          <p:nvPr userDrawn="1"/>
        </p:nvSpPr>
        <p:spPr>
          <a:xfrm rot="10800000">
            <a:off x="2118891" y="-122441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10800000" flipH="1" flipV="1">
            <a:off x="2118891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091993" y="-130018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Gleichschenkliges Dreieck 30"/>
          <p:cNvSpPr/>
          <p:nvPr userDrawn="1"/>
        </p:nvSpPr>
        <p:spPr>
          <a:xfrm rot="10800000" flipH="1" flipV="1">
            <a:off x="4099107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Gleichschenkliges Dreieck 31"/>
          <p:cNvSpPr/>
          <p:nvPr userDrawn="1"/>
        </p:nvSpPr>
        <p:spPr>
          <a:xfrm rot="10800000">
            <a:off x="6075868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Gleichschenkliges Dreieck 32"/>
          <p:cNvSpPr/>
          <p:nvPr userDrawn="1"/>
        </p:nvSpPr>
        <p:spPr>
          <a:xfrm rot="10800000" flipH="1" flipV="1">
            <a:off x="6079887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Gleichschenkliges Dreieck 33"/>
          <p:cNvSpPr/>
          <p:nvPr userDrawn="1"/>
        </p:nvSpPr>
        <p:spPr>
          <a:xfrm rot="10800000">
            <a:off x="8061536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Gleichschenkliges Dreieck 34"/>
          <p:cNvSpPr/>
          <p:nvPr userDrawn="1"/>
        </p:nvSpPr>
        <p:spPr>
          <a:xfrm rot="10800000" flipH="1" flipV="1">
            <a:off x="8060666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Gleichschenkliges Dreieck 35"/>
          <p:cNvSpPr/>
          <p:nvPr userDrawn="1"/>
        </p:nvSpPr>
        <p:spPr>
          <a:xfrm rot="10800000">
            <a:off x="9921192" y="-13002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Gleichschenkliges Dreieck 36"/>
          <p:cNvSpPr/>
          <p:nvPr userDrawn="1"/>
        </p:nvSpPr>
        <p:spPr>
          <a:xfrm rot="10800000" flipH="1" flipV="1">
            <a:off x="9933444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Gleichschenkliges Dreieck 38"/>
          <p:cNvSpPr/>
          <p:nvPr userDrawn="1"/>
        </p:nvSpPr>
        <p:spPr>
          <a:xfrm rot="16200000" flipH="1">
            <a:off x="12291623" y="5766848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Gleichschenkliges Dreieck 39"/>
          <p:cNvSpPr/>
          <p:nvPr userDrawn="1"/>
        </p:nvSpPr>
        <p:spPr>
          <a:xfrm rot="5400000">
            <a:off x="-134766" y="169856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Gleichschenkliges Dreieck 40"/>
          <p:cNvSpPr/>
          <p:nvPr userDrawn="1"/>
        </p:nvSpPr>
        <p:spPr>
          <a:xfrm rot="16200000" flipH="1">
            <a:off x="12291623" y="169725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Textplatzhalter 2"/>
          <p:cNvSpPr>
            <a:spLocks noGrp="1"/>
          </p:cNvSpPr>
          <p:nvPr>
            <p:ph type="body" sz="quarter" idx="22" hasCustomPrompt="1"/>
          </p:nvPr>
        </p:nvSpPr>
        <p:spPr>
          <a:xfrm>
            <a:off x="480026" y="2600367"/>
            <a:ext cx="3420000" cy="34776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</p:txBody>
      </p:sp>
      <p:sp>
        <p:nvSpPr>
          <p:cNvPr id="44" name="Textplatzhalter 2"/>
          <p:cNvSpPr>
            <a:spLocks noGrp="1"/>
          </p:cNvSpPr>
          <p:nvPr>
            <p:ph type="body" sz="quarter" idx="23" hasCustomPrompt="1"/>
          </p:nvPr>
        </p:nvSpPr>
        <p:spPr>
          <a:xfrm>
            <a:off x="4423887" y="2600367"/>
            <a:ext cx="3420000" cy="34776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 baseline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</p:txBody>
      </p:sp>
      <p:sp>
        <p:nvSpPr>
          <p:cNvPr id="45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8363925" y="2609484"/>
            <a:ext cx="3420000" cy="34776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48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sp>
        <p:nvSpPr>
          <p:cNvPr id="42" name="Gleichschenkliges Dreieck 41"/>
          <p:cNvSpPr/>
          <p:nvPr userDrawn="1"/>
        </p:nvSpPr>
        <p:spPr>
          <a:xfrm rot="10800000">
            <a:off x="11726724" y="-118191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Gleichschenkliges Dreieck 45"/>
          <p:cNvSpPr/>
          <p:nvPr userDrawn="1"/>
        </p:nvSpPr>
        <p:spPr>
          <a:xfrm rot="10800000" flipH="1" flipV="1">
            <a:off x="11733000" y="69434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49" name="Gleichschenkliges Dreieck 48">
            <a:extLst>
              <a:ext uri="{FF2B5EF4-FFF2-40B4-BE49-F238E27FC236}">
                <a16:creationId xmlns:a16="http://schemas.microsoft.com/office/drawing/2014/main" id="{F4EC42BA-DE84-4764-9E17-15BE172719FE}"/>
              </a:ext>
            </a:extLst>
          </p:cNvPr>
          <p:cNvSpPr/>
          <p:nvPr userDrawn="1"/>
        </p:nvSpPr>
        <p:spPr>
          <a:xfrm rot="5400000">
            <a:off x="-168666" y="6064445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10DD55C-87C7-A5EB-047C-19AD404A55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1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6289">
          <p15:clr>
            <a:srgbClr val="FBAE40"/>
          </p15:clr>
        </p15:guide>
        <p15:guide id="4" pos="3863">
          <p15:clr>
            <a:srgbClr val="FBAE40"/>
          </p15:clr>
        </p15:guide>
        <p15:guide id="5" pos="2615">
          <p15:clr>
            <a:srgbClr val="FBAE40"/>
          </p15:clr>
        </p15:guide>
        <p15:guide id="6" pos="5110">
          <p15:clr>
            <a:srgbClr val="FBAE40"/>
          </p15:clr>
        </p15:guide>
        <p15:guide id="7" pos="1368">
          <p15:clr>
            <a:srgbClr val="FBAE40"/>
          </p15:clr>
        </p15:guide>
        <p15:guide id="8" orient="horz" pos="3657">
          <p15:clr>
            <a:srgbClr val="FBAE40"/>
          </p15:clr>
        </p15:guide>
        <p15:guide id="9" pos="742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car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5E244E25-96D8-47AD-90C5-76CA3E82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de-DE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7F2167E-0E89-4697-8C60-F05717EF8083}"/>
              </a:ext>
            </a:extLst>
          </p:cNvPr>
          <p:cNvSpPr/>
          <p:nvPr userDrawn="1"/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910830"/>
              </a:gs>
              <a:gs pos="100000">
                <a:srgbClr val="521623"/>
              </a:gs>
            </a:gsLst>
            <a:lin ang="16200000" scaled="0"/>
          </a:gradFill>
          <a:effectLst>
            <a:outerShdw blurRad="381000" sx="105000" sy="105000" algn="ctr" rotWithShape="0">
              <a:prstClr val="black">
                <a:alpha val="6000"/>
              </a:prstClr>
            </a:outerShdw>
          </a:effectLst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/>
          <p:cNvSpPr/>
          <p:nvPr userDrawn="1"/>
        </p:nvSpPr>
        <p:spPr>
          <a:xfrm rot="16200000">
            <a:off x="3480871" y="-1011265"/>
            <a:ext cx="5230257" cy="888053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546100" dist="469900" dir="2700000" sx="96000" sy="96000" algn="tl" rotWithShape="0">
              <a:prstClr val="black">
                <a:alpha val="3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2221524" y="3743096"/>
            <a:ext cx="5302553" cy="440727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buNone/>
              <a:defRPr lang="de-DE" sz="2800" b="1" kern="1200" baseline="0" dirty="0" smtClean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First Name, Surname</a:t>
            </a:r>
          </a:p>
        </p:txBody>
      </p:sp>
      <p:sp>
        <p:nvSpPr>
          <p:cNvPr id="12" name="Textplatzhalt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2221525" y="4440560"/>
            <a:ext cx="5302553" cy="141731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ts val="1600"/>
              </a:lnSpc>
              <a:buNone/>
              <a:defRPr lang="de-DE" sz="1600" b="0" kern="1200" baseline="0" dirty="0" smtClean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Contact Details</a:t>
            </a:r>
          </a:p>
          <a:p>
            <a:pPr lvl="0"/>
            <a:r>
              <a:rPr lang="en-US" noProof="0"/>
              <a:t>Address 1</a:t>
            </a:r>
          </a:p>
          <a:p>
            <a:pPr lvl="0"/>
            <a:r>
              <a:rPr lang="en-US" noProof="0"/>
              <a:t>Address 2</a:t>
            </a:r>
          </a:p>
          <a:p>
            <a:pPr lvl="0"/>
            <a:r>
              <a:rPr lang="en-US" noProof="0"/>
              <a:t>Address 3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C570B0-4E56-D337-B095-9A78FA9123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59547" y="1308891"/>
            <a:ext cx="2851435" cy="78911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DF0B564-7324-514A-13D2-FEC2DBDAE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1020" y="1180226"/>
            <a:ext cx="2948825" cy="259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4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_Pictur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479425" y="1737172"/>
            <a:ext cx="11304588" cy="4346128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Picture</a:t>
            </a:r>
          </a:p>
          <a:p>
            <a:endParaRPr lang="en-US"/>
          </a:p>
        </p:txBody>
      </p:sp>
      <p:sp>
        <p:nvSpPr>
          <p:cNvPr id="22" name="Gleichschenkliges Dreieck 21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leichschenkliges Dreieck 22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leichschenkliges Dreieck 23"/>
          <p:cNvSpPr/>
          <p:nvPr userDrawn="1"/>
        </p:nvSpPr>
        <p:spPr>
          <a:xfrm rot="5400000">
            <a:off x="-134766" y="6059102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16200000" flipH="1">
            <a:off x="12291623" y="605778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0800000">
            <a:off x="715735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715669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18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cxnSp>
        <p:nvCxnSpPr>
          <p:cNvPr id="19" name="Gerader Verbinder 18"/>
          <p:cNvCxnSpPr/>
          <p:nvPr userDrawn="1"/>
        </p:nvCxnSpPr>
        <p:spPr>
          <a:xfrm flipV="1">
            <a:off x="479425" y="6294664"/>
            <a:ext cx="1129347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16" name="Gleichschenkliges Dreieck 15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Gleichschenkliges Dreieck 19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0C14488-9BA0-8F61-091D-5E1CFD877F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9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454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pos="742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leichschenkliges Dreieck 21"/>
          <p:cNvSpPr/>
          <p:nvPr userDrawn="1"/>
        </p:nvSpPr>
        <p:spPr>
          <a:xfrm rot="5400000">
            <a:off x="-134766" y="170801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leichschenkliges Dreieck 22"/>
          <p:cNvSpPr/>
          <p:nvPr userDrawn="1"/>
        </p:nvSpPr>
        <p:spPr>
          <a:xfrm rot="16200000" flipH="1">
            <a:off x="12291623" y="1706694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leichschenkliges Dreieck 23"/>
          <p:cNvSpPr/>
          <p:nvPr userDrawn="1"/>
        </p:nvSpPr>
        <p:spPr>
          <a:xfrm rot="5400000">
            <a:off x="-134766" y="6059102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Gleichschenkliges Dreieck 24"/>
          <p:cNvSpPr/>
          <p:nvPr userDrawn="1"/>
        </p:nvSpPr>
        <p:spPr>
          <a:xfrm rot="16200000" flipH="1">
            <a:off x="12291623" y="605778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>
            <a:off x="426719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26"/>
          <p:cNvSpPr/>
          <p:nvPr userDrawn="1"/>
        </p:nvSpPr>
        <p:spPr>
          <a:xfrm rot="10800000" flipH="1" flipV="1">
            <a:off x="426059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27"/>
          <p:cNvSpPr/>
          <p:nvPr userDrawn="1"/>
        </p:nvSpPr>
        <p:spPr>
          <a:xfrm rot="10800000">
            <a:off x="715735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715669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9" name="Gerader Verbinder 18"/>
          <p:cNvCxnSpPr/>
          <p:nvPr userDrawn="1"/>
        </p:nvCxnSpPr>
        <p:spPr>
          <a:xfrm flipV="1">
            <a:off x="479425" y="6294664"/>
            <a:ext cx="1129347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15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18" name="Gleichschenkliges Dreieck 17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Gleichschenkliges Dreieck 19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FA44C06-C22B-0671-767A-7AB0F287B1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54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454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pos="742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2">
            <a:extLst>
              <a:ext uri="{FF2B5EF4-FFF2-40B4-BE49-F238E27FC236}">
                <a16:creationId xmlns:a16="http://schemas.microsoft.com/office/drawing/2014/main" id="{9EAF5593-3195-1641-B210-037F92256F3F}"/>
              </a:ext>
            </a:extLst>
          </p:cNvPr>
          <p:cNvCxnSpPr>
            <a:cxnSpLocks/>
          </p:cNvCxnSpPr>
          <p:nvPr userDrawn="1"/>
        </p:nvCxnSpPr>
        <p:spPr>
          <a:xfrm flipH="1">
            <a:off x="6103620" y="1736725"/>
            <a:ext cx="3821" cy="4212789"/>
          </a:xfrm>
          <a:prstGeom prst="line">
            <a:avLst/>
          </a:prstGeom>
          <a:ln w="12700">
            <a:solidFill>
              <a:srgbClr val="9108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platzhalt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769620" y="1954080"/>
            <a:ext cx="5042556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None/>
              <a:defRPr lang="en-US" sz="2400" b="1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Item 1</a:t>
            </a:r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6393809" y="1954080"/>
            <a:ext cx="51486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>
              <a:buNone/>
              <a:defRPr lang="en-US" sz="2400" b="1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Item 2</a:t>
            </a:r>
          </a:p>
        </p:txBody>
      </p:sp>
      <p:sp>
        <p:nvSpPr>
          <p:cNvPr id="25" name="Gleichschenkliges Dreieck 24"/>
          <p:cNvSpPr/>
          <p:nvPr userDrawn="1"/>
        </p:nvSpPr>
        <p:spPr>
          <a:xfrm rot="10800000">
            <a:off x="6042000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leichschenkliges Dreieck 25"/>
          <p:cNvSpPr/>
          <p:nvPr userDrawn="1"/>
        </p:nvSpPr>
        <p:spPr>
          <a:xfrm rot="10800000" flipH="1" flipV="1">
            <a:off x="6041340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Gleichschenkliges Dreieck 30"/>
          <p:cNvSpPr/>
          <p:nvPr userDrawn="1"/>
        </p:nvSpPr>
        <p:spPr>
          <a:xfrm rot="10800000">
            <a:off x="3236898" y="-13002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Gleichschenkliges Dreieck 31"/>
          <p:cNvSpPr/>
          <p:nvPr userDrawn="1"/>
        </p:nvSpPr>
        <p:spPr>
          <a:xfrm rot="10800000" flipH="1" flipV="1">
            <a:off x="3236898" y="6951958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Gleichschenkliges Dreieck 32"/>
          <p:cNvSpPr/>
          <p:nvPr userDrawn="1"/>
        </p:nvSpPr>
        <p:spPr>
          <a:xfrm rot="10800000">
            <a:off x="8922385" y="-13002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Gleichschenkliges Dreieck 33"/>
          <p:cNvSpPr/>
          <p:nvPr userDrawn="1"/>
        </p:nvSpPr>
        <p:spPr>
          <a:xfrm rot="10800000" flipH="1" flipV="1">
            <a:off x="8921725" y="695936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Gleichschenkliges Dreieck 35"/>
          <p:cNvSpPr/>
          <p:nvPr userDrawn="1"/>
        </p:nvSpPr>
        <p:spPr>
          <a:xfrm rot="16200000" flipH="1">
            <a:off x="12291623" y="5776373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Gleichschenkliges Dreieck 36"/>
          <p:cNvSpPr/>
          <p:nvPr userDrawn="1"/>
        </p:nvSpPr>
        <p:spPr>
          <a:xfrm rot="5400000">
            <a:off x="-134766" y="170872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Gleichschenkliges Dreieck 37"/>
          <p:cNvSpPr/>
          <p:nvPr userDrawn="1"/>
        </p:nvSpPr>
        <p:spPr>
          <a:xfrm rot="16200000" flipH="1">
            <a:off x="12291623" y="170741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Textplatzhalter 2"/>
          <p:cNvSpPr>
            <a:spLocks noGrp="1"/>
          </p:cNvSpPr>
          <p:nvPr>
            <p:ph type="body" sz="quarter" idx="22" hasCustomPrompt="1"/>
          </p:nvPr>
        </p:nvSpPr>
        <p:spPr>
          <a:xfrm>
            <a:off x="774696" y="2603007"/>
            <a:ext cx="5042556" cy="34776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2" name="Textplatzhalt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434557" y="2603008"/>
            <a:ext cx="5070066" cy="34776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GB" noProof="0"/>
              <a:t>Edit stylesheet of the text master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2231BD15-44B5-4EF8-A1BE-B1959E9F8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3732"/>
            <a:ext cx="9469437" cy="60724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1000"/>
              </a:spcBef>
              <a:buNone/>
              <a:defRPr lang="de-DE" sz="3400" b="1" kern="1200" dirty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noProof="0"/>
              <a:t>Slide Title</a:t>
            </a:r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184641"/>
            <a:ext cx="946943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0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noProof="0"/>
              <a:t>Action Title</a:t>
            </a:r>
          </a:p>
        </p:txBody>
      </p:sp>
      <p:sp>
        <p:nvSpPr>
          <p:cNvPr id="2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smtClean="0">
                <a:solidFill>
                  <a:srgbClr val="595959"/>
                </a:solidFill>
                <a:latin typeface="Trebuchet MS" panose="020B0603020202020204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en-US"/>
          </a:p>
        </p:txBody>
      </p:sp>
      <p:sp>
        <p:nvSpPr>
          <p:cNvPr id="21" name="Gleichschenkliges Dreieck 20"/>
          <p:cNvSpPr/>
          <p:nvPr userDrawn="1"/>
        </p:nvSpPr>
        <p:spPr>
          <a:xfrm rot="10800000">
            <a:off x="11727473" y="-130019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Gleichschenkliges Dreieck 28"/>
          <p:cNvSpPr/>
          <p:nvPr userDrawn="1"/>
        </p:nvSpPr>
        <p:spPr>
          <a:xfrm rot="10800000" flipH="1" flipV="1">
            <a:off x="11726813" y="6959370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Gleichschenkliges Dreieck 29">
            <a:extLst>
              <a:ext uri="{FF2B5EF4-FFF2-40B4-BE49-F238E27FC236}">
                <a16:creationId xmlns:a16="http://schemas.microsoft.com/office/drawing/2014/main" id="{F4EC42BA-DE84-4764-9E17-15BE172719FE}"/>
              </a:ext>
            </a:extLst>
          </p:cNvPr>
          <p:cNvSpPr/>
          <p:nvPr userDrawn="1"/>
        </p:nvSpPr>
        <p:spPr>
          <a:xfrm rot="5400000">
            <a:off x="-168666" y="6064445"/>
            <a:ext cx="108000" cy="72000"/>
          </a:xfrm>
          <a:prstGeom prst="triangle">
            <a:avLst/>
          </a:prstGeom>
          <a:gradFill flip="none" rotWithShape="1">
            <a:gsLst>
              <a:gs pos="4000">
                <a:srgbClr val="910830"/>
              </a:gs>
              <a:gs pos="100000">
                <a:srgbClr val="521623"/>
              </a:gs>
            </a:gsLst>
            <a:lin ang="16200000" scaled="0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0A372E-F831-2639-2662-CD6823FC08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8324" y="502141"/>
            <a:ext cx="1587600" cy="9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6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94">
          <p15:clr>
            <a:srgbClr val="FBAE40"/>
          </p15:clr>
        </p15:guide>
        <p15:guide id="2" pos="302">
          <p15:clr>
            <a:srgbClr val="FBAE40"/>
          </p15:clr>
        </p15:guide>
        <p15:guide id="3" pos="5654">
          <p15:clr>
            <a:srgbClr val="FBAE40"/>
          </p15:clr>
        </p15:guide>
        <p15:guide id="4" pos="3840">
          <p15:clr>
            <a:srgbClr val="FBAE40"/>
          </p15:clr>
        </p15:guide>
        <p15:guide id="7" pos="2071">
          <p15:clr>
            <a:srgbClr val="FBAE40"/>
          </p15:clr>
        </p15:guide>
        <p15:guide id="8" orient="horz" pos="3657">
          <p15:clr>
            <a:srgbClr val="FBAE40"/>
          </p15:clr>
        </p15:guide>
        <p15:guide id="9" pos="742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cardMul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0854E3A-A601-4BFA-A960-1FF1712E4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1424" y="6400424"/>
            <a:ext cx="371475" cy="17164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lang="en-US" sz="12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de-DE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 rot="162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910830"/>
              </a:gs>
              <a:gs pos="100000">
                <a:srgbClr val="521623"/>
              </a:gs>
            </a:gsLst>
            <a:lin ang="16200000" scaled="0"/>
          </a:gradFill>
          <a:effectLst>
            <a:outerShdw blurRad="381000" sx="105000" sy="105000" algn="ctr" rotWithShape="0">
              <a:prstClr val="black">
                <a:alpha val="6000"/>
              </a:prstClr>
            </a:outerShdw>
          </a:effectLst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/>
          <p:cNvSpPr/>
          <p:nvPr userDrawn="1"/>
        </p:nvSpPr>
        <p:spPr>
          <a:xfrm rot="16200000">
            <a:off x="3480871" y="-1011265"/>
            <a:ext cx="5230257" cy="888053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546100" dist="469900" dir="2700000" sx="96000" sy="96000" algn="tl" rotWithShape="0">
              <a:prstClr val="black">
                <a:alpha val="3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platzhalt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1959447" y="3885971"/>
            <a:ext cx="2426676" cy="440727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buNone/>
              <a:defRPr lang="de-DE" sz="2000" b="1" kern="1200" baseline="0" dirty="0" smtClean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platzhalt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1959447" y="4498586"/>
            <a:ext cx="2426675" cy="128396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ts val="1000"/>
              </a:lnSpc>
              <a:buNone/>
              <a:defRPr lang="de-DE" sz="1200" b="0" kern="1200" baseline="0" dirty="0" smtClean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Contact Details</a:t>
            </a:r>
          </a:p>
          <a:p>
            <a:pPr lvl="0"/>
            <a:r>
              <a:rPr lang="en-US" noProof="0"/>
              <a:t>Address 1</a:t>
            </a:r>
          </a:p>
          <a:p>
            <a:pPr lvl="0"/>
            <a:r>
              <a:rPr lang="en-US" noProof="0"/>
              <a:t>Address 2</a:t>
            </a:r>
          </a:p>
          <a:p>
            <a:pPr lvl="0"/>
            <a:r>
              <a:rPr lang="en-US" noProof="0"/>
              <a:t>Address 3</a:t>
            </a:r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882661" y="4498587"/>
            <a:ext cx="2426675" cy="128396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1000"/>
              </a:lnSpc>
              <a:buNone/>
              <a:defRPr lang="de-DE" sz="1200" b="0" kern="1200" baseline="0" dirty="0" smtClean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Contact Details</a:t>
            </a:r>
          </a:p>
          <a:p>
            <a:pPr lvl="0"/>
            <a:r>
              <a:rPr lang="en-US" noProof="0"/>
              <a:t>Address 1</a:t>
            </a:r>
          </a:p>
          <a:p>
            <a:pPr lvl="0"/>
            <a:r>
              <a:rPr lang="en-US" noProof="0"/>
              <a:t>Address 2</a:t>
            </a:r>
          </a:p>
          <a:p>
            <a:pPr lvl="0"/>
            <a:r>
              <a:rPr lang="en-US" noProof="0"/>
              <a:t>Address 3</a:t>
            </a:r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4880415" y="3885971"/>
            <a:ext cx="2426676" cy="440727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buNone/>
              <a:defRPr lang="de-DE" sz="2000" b="1" kern="1200" baseline="0" dirty="0" smtClean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7751734" y="4498587"/>
            <a:ext cx="2426675" cy="12839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1000"/>
              </a:lnSpc>
              <a:buNone/>
              <a:defRPr lang="de-DE" sz="1200" b="0" kern="1200" baseline="0" dirty="0" smtClean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Contact Details</a:t>
            </a:r>
          </a:p>
          <a:p>
            <a:pPr lvl="0"/>
            <a:r>
              <a:rPr lang="en-US" noProof="0"/>
              <a:t>Address 1</a:t>
            </a:r>
          </a:p>
          <a:p>
            <a:pPr lvl="0"/>
            <a:r>
              <a:rPr lang="en-US" noProof="0"/>
              <a:t>Address 2</a:t>
            </a:r>
          </a:p>
          <a:p>
            <a:pPr lvl="0"/>
            <a:r>
              <a:rPr lang="en-US" noProof="0"/>
              <a:t>Address 3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7749488" y="3885971"/>
            <a:ext cx="2426676" cy="440727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buNone/>
              <a:defRPr lang="de-DE" sz="2000" b="1" kern="1200" baseline="0" dirty="0" smtClean="0">
                <a:solidFill>
                  <a:srgbClr val="910830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F26E63-AF10-4C43-987B-8492EAD6B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5976" y="1198155"/>
            <a:ext cx="2948825" cy="25942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1525F9D-2045-BB83-AA1A-A14874813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59547" y="1308891"/>
            <a:ext cx="2851435" cy="78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6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/>
          <p:cNvCxnSpPr/>
          <p:nvPr userDrawn="1"/>
        </p:nvCxnSpPr>
        <p:spPr>
          <a:xfrm flipV="1">
            <a:off x="479425" y="6294664"/>
            <a:ext cx="1129347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22"/>
          <p:cNvSpPr txBox="1">
            <a:spLocks/>
          </p:cNvSpPr>
          <p:nvPr userDrawn="1"/>
        </p:nvSpPr>
        <p:spPr>
          <a:xfrm>
            <a:off x="479425" y="6400423"/>
            <a:ext cx="4318206" cy="21982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noProof="0" dirty="0">
                <a:solidFill>
                  <a:srgbClr val="595959"/>
                </a:solidFill>
              </a:rPr>
              <a:t>Joris Engels, Paul Bahde, Florian Zink| Solution Challenge</a:t>
            </a:r>
          </a:p>
        </p:txBody>
      </p:sp>
    </p:spTree>
    <p:extLst>
      <p:ext uri="{BB962C8B-B14F-4D97-AF65-F5344CB8AC3E}">
        <p14:creationId xmlns:p14="http://schemas.microsoft.com/office/powerpoint/2010/main" val="332431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922413" y="4395114"/>
            <a:ext cx="7406247" cy="221599"/>
          </a:xfr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latin typeface="Trebuchet MS"/>
                <a:ea typeface="Arial Unicode MS"/>
                <a:cs typeface="Arial"/>
              </a:rPr>
              <a:t>Bike Count Estimation Challenge – Supervised Learning – Sommer Term 2026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B141149-B2C9-4FFE-B761-195BB78F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13" y="2614390"/>
            <a:ext cx="9259812" cy="1597439"/>
          </a:xfrm>
        </p:spPr>
        <p:txBody>
          <a:bodyPr/>
          <a:lstStyle/>
          <a:p>
            <a:r>
              <a:rPr lang="en-US" noProof="0"/>
              <a:t>Solution Challenge 1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8D9EFC03-50A2-BA86-00F7-6961761349B4}"/>
              </a:ext>
            </a:extLst>
          </p:cNvPr>
          <p:cNvSpPr txBox="1">
            <a:spLocks/>
          </p:cNvSpPr>
          <p:nvPr/>
        </p:nvSpPr>
        <p:spPr>
          <a:xfrm>
            <a:off x="923673" y="4786820"/>
            <a:ext cx="7406247" cy="921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baseline="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>
                <a:latin typeface="Trebuchet MS"/>
                <a:ea typeface="Arial Unicode MS"/>
                <a:cs typeface="Arial"/>
              </a:rPr>
              <a:t>Joris Engels</a:t>
            </a:r>
          </a:p>
          <a:p>
            <a:r>
              <a:rPr lang="de-DE" sz="1600">
                <a:latin typeface="Trebuchet MS"/>
                <a:ea typeface="Arial Unicode MS"/>
                <a:cs typeface="Arial"/>
              </a:rPr>
              <a:t>Paul Bahde</a:t>
            </a:r>
          </a:p>
          <a:p>
            <a:r>
              <a:rPr lang="de-DE" sz="1600">
                <a:latin typeface="Trebuchet MS"/>
                <a:ea typeface="Arial Unicode MS"/>
                <a:cs typeface="Arial"/>
              </a:rPr>
              <a:t>Florian Zink</a:t>
            </a:r>
          </a:p>
        </p:txBody>
      </p:sp>
    </p:spTree>
    <p:extLst>
      <p:ext uri="{BB962C8B-B14F-4D97-AF65-F5344CB8AC3E}">
        <p14:creationId xmlns:p14="http://schemas.microsoft.com/office/powerpoint/2010/main" val="384717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E766C8C-78C4-EE9E-CFFF-CBB78CE3D1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Feature Engineering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FB7F85-DA27-35C6-934A-A3365CF268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Selection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8467D2-462E-14FF-8168-14C36C4BA7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9620" y="2449834"/>
            <a:ext cx="5042556" cy="12279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Lag Features (1, 2, 3, 24, 48, 168)</a:t>
            </a:r>
          </a:p>
          <a:p>
            <a:pPr>
              <a:lnSpc>
                <a:spcPct val="150000"/>
              </a:lnSpc>
            </a:pPr>
            <a:r>
              <a:rPr lang="de-DE" dirty="0"/>
              <a:t>Rolling Mean (3, 6, 12, 24, 168)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AD6A60-30B5-612E-45E9-6423D8F249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95143" y="2451922"/>
            <a:ext cx="5070066" cy="347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Split 90% Training Data &amp; 10% </a:t>
            </a:r>
            <a:r>
              <a:rPr lang="de-DE" dirty="0" err="1"/>
              <a:t>Testing</a:t>
            </a:r>
            <a:endParaRPr lang="de-DE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dirty="0" err="1"/>
              <a:t>Sorted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time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dirty="0" err="1"/>
              <a:t>December</a:t>
            </a:r>
            <a:r>
              <a:rPr lang="de-DE" dirty="0"/>
              <a:t> and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November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Grid</a:t>
            </a:r>
            <a:r>
              <a:rPr lang="de-DE" dirty="0"/>
              <a:t> Search </a:t>
            </a:r>
            <a:r>
              <a:rPr lang="de-DE" dirty="0" err="1"/>
              <a:t>for</a:t>
            </a:r>
            <a:r>
              <a:rPr lang="de-DE" dirty="0"/>
              <a:t> Parameters</a:t>
            </a:r>
          </a:p>
          <a:p>
            <a:pPr>
              <a:lnSpc>
                <a:spcPct val="150000"/>
              </a:lnSpc>
            </a:pPr>
            <a:r>
              <a:rPr lang="de-DE" dirty="0"/>
              <a:t>MSE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Decision</a:t>
            </a:r>
            <a:r>
              <a:rPr lang="de-DE" dirty="0"/>
              <a:t> Criterion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4362092-39A8-8268-7584-B6147FAA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Approach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9B4A533-BADF-1F08-FE00-29E706EAA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184641"/>
            <a:ext cx="9469438" cy="276999"/>
          </a:xfrm>
        </p:spPr>
        <p:txBody>
          <a:bodyPr/>
          <a:lstStyle/>
          <a:p>
            <a:r>
              <a:rPr lang="de-DE" dirty="0"/>
              <a:t>Feature Engineering and Model </a:t>
            </a:r>
            <a:r>
              <a:rPr lang="de-DE" dirty="0" err="1"/>
              <a:t>Selection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F5FE167-225A-BE3B-FA32-A6BDBB583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 lang="en-US"/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8FB41055-3F10-839C-C359-D01724684629}"/>
              </a:ext>
            </a:extLst>
          </p:cNvPr>
          <p:cNvSpPr txBox="1">
            <a:spLocks/>
          </p:cNvSpPr>
          <p:nvPr/>
        </p:nvSpPr>
        <p:spPr>
          <a:xfrm>
            <a:off x="769620" y="3909278"/>
            <a:ext cx="5042556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rgbClr val="595959"/>
                </a:solidFill>
                <a:latin typeface="Trebuchet MS" panose="020B0603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Models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25E6257-05DA-157B-7B87-7D5422D20BBC}"/>
              </a:ext>
            </a:extLst>
          </p:cNvPr>
          <p:cNvSpPr txBox="1">
            <a:spLocks/>
          </p:cNvSpPr>
          <p:nvPr/>
        </p:nvSpPr>
        <p:spPr>
          <a:xfrm>
            <a:off x="769620" y="4341808"/>
            <a:ext cx="5042556" cy="16169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595959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595959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595959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595959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595959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Linear Regression</a:t>
            </a:r>
          </a:p>
          <a:p>
            <a:r>
              <a:rPr lang="de-DE" dirty="0"/>
              <a:t>Random Forests</a:t>
            </a:r>
          </a:p>
          <a:p>
            <a:r>
              <a:rPr lang="de-DE" dirty="0" err="1"/>
              <a:t>XGBoost</a:t>
            </a:r>
            <a:endParaRPr lang="de-DE" dirty="0"/>
          </a:p>
          <a:p>
            <a:r>
              <a:rPr lang="de-DE" dirty="0" err="1"/>
              <a:t>Neural</a:t>
            </a:r>
            <a:r>
              <a:rPr lang="de-DE" dirty="0"/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319129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04953-B9C6-1045-663E-79927E21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75B90B-483A-511E-2ED4-638E7B7D3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fld id="{93DEF678-1E8D-4449-B736-148650DA711F}" type="slidenum">
              <a:rPr lang="en-US"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E256F0D-6443-6C3E-B6D0-8285AD29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2" y="2513462"/>
            <a:ext cx="5947310" cy="295114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548A47B-DC66-17DD-C71C-61BAF804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13462"/>
            <a:ext cx="5947310" cy="2951146"/>
          </a:xfrm>
          <a:prstGeom prst="rect">
            <a:avLst/>
          </a:prstGeom>
        </p:spPr>
      </p:pic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B166C7FC-D3D4-7856-10CE-886A45CCA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184641"/>
            <a:ext cx="9469438" cy="553998"/>
          </a:xfrm>
        </p:spPr>
        <p:txBody>
          <a:bodyPr wrap="square" lIns="0" tIns="0" rIns="0" bIns="0" rtlCol="0" anchor="t">
            <a:spAutoFit/>
          </a:bodyPr>
          <a:lstStyle/>
          <a:p>
            <a:r>
              <a:rPr lang="de-DE" dirty="0">
                <a:latin typeface="Trebuchet MS"/>
                <a:ea typeface="Arial Unicode MS"/>
                <a:cs typeface="Arial"/>
              </a:rPr>
              <a:t>Evaluation </a:t>
            </a:r>
            <a:r>
              <a:rPr lang="de-DE" err="1">
                <a:latin typeface="Trebuchet MS"/>
                <a:ea typeface="Arial Unicode MS"/>
                <a:cs typeface="Arial"/>
              </a:rPr>
              <a:t>of</a:t>
            </a:r>
            <a:r>
              <a:rPr lang="de-DE">
                <a:latin typeface="Trebuchet MS"/>
                <a:ea typeface="Arial Unicode MS"/>
                <a:cs typeface="Arial"/>
              </a:rPr>
              <a:t> 1h and 24h Forecast</a:t>
            </a:r>
            <a:br>
              <a:rPr lang="de-DE" dirty="0">
                <a:latin typeface="Trebuchet MS"/>
                <a:ea typeface="Arial Unicode MS"/>
                <a:cs typeface="Arial"/>
              </a:rPr>
            </a:br>
            <a:r>
              <a:rPr lang="de-DE">
                <a:latin typeface="Trebuchet MS"/>
                <a:ea typeface="Arial Unicode MS"/>
                <a:cs typeface="Arial"/>
              </a:rPr>
              <a:t>With</a:t>
            </a:r>
            <a:r>
              <a:rPr lang="de-DE" dirty="0">
                <a:latin typeface="Trebuchet MS"/>
                <a:ea typeface="Arial Unicode MS"/>
                <a:cs typeface="Arial"/>
              </a:rPr>
              <a:t> and </a:t>
            </a:r>
            <a:r>
              <a:rPr lang="de-DE" err="1">
                <a:latin typeface="Trebuchet MS"/>
                <a:ea typeface="Arial Unicode MS"/>
                <a:cs typeface="Arial"/>
              </a:rPr>
              <a:t>Without</a:t>
            </a:r>
            <a:r>
              <a:rPr lang="de-DE" dirty="0">
                <a:latin typeface="Trebuchet MS"/>
                <a:ea typeface="Arial Unicode MS"/>
                <a:cs typeface="Arial"/>
              </a:rPr>
              <a:t>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65215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RCIS Colors">
      <a:dk1>
        <a:srgbClr val="5E5E5D"/>
      </a:dk1>
      <a:lt1>
        <a:srgbClr val="FFFFFF"/>
      </a:lt1>
      <a:dk2>
        <a:srgbClr val="910830"/>
      </a:dk2>
      <a:lt2>
        <a:srgbClr val="FFFFFF"/>
      </a:lt2>
      <a:accent1>
        <a:srgbClr val="910830"/>
      </a:accent1>
      <a:accent2>
        <a:srgbClr val="5E5E5D"/>
      </a:accent2>
      <a:accent3>
        <a:srgbClr val="87BF2A"/>
      </a:accent3>
      <a:accent4>
        <a:srgbClr val="143164"/>
      </a:accent4>
      <a:accent5>
        <a:srgbClr val="009CB3"/>
      </a:accent5>
      <a:accent6>
        <a:srgbClr val="E77C12"/>
      </a:accent6>
      <a:hlink>
        <a:srgbClr val="910830"/>
      </a:hlink>
      <a:folHlink>
        <a:srgbClr val="5E5E5D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025efb-c5f2-432a-b849-c8ee817ada2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55ECACD92EE884DB43D21C287473EB8" ma:contentTypeVersion="5" ma:contentTypeDescription="Ein neues Dokument erstellen." ma:contentTypeScope="" ma:versionID="b2f4c2040fcd561e8bfab85f9763a19a">
  <xsd:schema xmlns:xsd="http://www.w3.org/2001/XMLSchema" xmlns:xs="http://www.w3.org/2001/XMLSchema" xmlns:p="http://schemas.microsoft.com/office/2006/metadata/properties" xmlns:ns3="9f025efb-c5f2-432a-b849-c8ee817ada2a" targetNamespace="http://schemas.microsoft.com/office/2006/metadata/properties" ma:root="true" ma:fieldsID="b457aba5936d7d1731897c1f01a0e4b1" ns3:_="">
    <xsd:import namespace="9f025efb-c5f2-432a-b849-c8ee817ada2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25efb-c5f2-432a-b849-c8ee817ada2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D24BDC-3656-4335-B503-DCC17D64D816}">
  <ds:schemaRefs>
    <ds:schemaRef ds:uri="http://purl.org/dc/terms/"/>
    <ds:schemaRef ds:uri="9f025efb-c5f2-432a-b849-c8ee817ada2a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42171F4-EE01-4309-BE6A-E6E972087A60}">
  <ds:schemaRefs>
    <ds:schemaRef ds:uri="9f025efb-c5f2-432a-b849-c8ee817ada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7DA1DD3-16DA-4862-8D97-4DE816646F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</Words>
  <Application>Microsoft Office PowerPoint</Application>
  <PresentationFormat>Breitbild</PresentationFormat>
  <Paragraphs>22</Paragraphs>
  <Slides>3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1_Office Theme</vt:lpstr>
      <vt:lpstr>Solution Challenge 1</vt:lpstr>
      <vt:lpstr>Our Approach</vt:lpstr>
      <vt:lpstr>Our Results</vt:lpstr>
    </vt:vector>
  </TitlesOfParts>
  <Company>WWU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Hoffmeister, Benedikt;Simeon Brüggenjürgen (Uni Münster)</dc:creator>
  <cp:lastModifiedBy>Joris Engels</cp:lastModifiedBy>
  <cp:revision>45</cp:revision>
  <dcterms:created xsi:type="dcterms:W3CDTF">2018-10-31T15:13:04Z</dcterms:created>
  <dcterms:modified xsi:type="dcterms:W3CDTF">2026-06-01T11:29:36Z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0x010100255ECACD92EE884DB43D21C287473EB8</vt:lpwstr>
  </property>
</Properties>
</file>